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67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SCRIPT:</a:t>
            </a:r>
          </a:p>
          <a:p>
            <a:r>
              <a:t>"Thank you [names] for your time today. I'm excited to be here.</a:t>
            </a:r>
          </a:p>
          <a:p>
            <a:endParaRPr/>
          </a:p>
          <a:p>
            <a:r>
              <a:t>When I looked at this role — Senior Customer Operations Analyst — I asked myself: What does world-class CS Operations actually look like in practice?</a:t>
            </a:r>
          </a:p>
          <a:p>
            <a:endParaRPr/>
          </a:p>
          <a:p>
            <a:r>
              <a:t>The answer I kept coming back to is: it's about turning customer data into action before it's too late.</a:t>
            </a:r>
          </a:p>
          <a:p>
            <a:endParaRPr/>
          </a:p>
          <a:p>
            <a:r>
              <a:t>So instead of just talking about what I would do, I built something to show you."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agenda quickly. Mention total time is 45-60 minutes.</a:t>
            </a:r>
          </a:p>
          <a:p>
            <a:r>
              <a:t>Say: "I've structured this around a live demo of the dashboard I built. Each section solves a real CS Ops problem."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show this slide to the panel — this is for YOUR reference only.</a:t>
            </a:r>
          </a:p>
          <a:p>
            <a:r>
              <a:t>It reminds you what each person cares about so you can tailor your demo commentary in real-time.</a:t>
            </a:r>
          </a:p>
          <a:p>
            <a:endParaRPr/>
          </a:p>
          <a:p>
            <a:r>
              <a:t>Alternatively, you can briefly acknowledge each panelist's perspective:</a:t>
            </a:r>
          </a:p>
          <a:p>
            <a:r>
              <a:t>"I've thought about what matters most to each of you, and I've built this dashboard with all three perspectives in mind."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MESSAGE: You didn't just prepare a PowerPoint — you built a working prototype.</a:t>
            </a:r>
          </a:p>
          <a:p>
            <a:endParaRPr/>
          </a:p>
          <a:p>
            <a:r>
              <a:t>Say: "This isn't just a visualization exercise. Every page ends with something someone can DO — a list to export, an EBR to generate, an alert to act on."</a:t>
            </a:r>
          </a:p>
          <a:p>
            <a:endParaRPr/>
          </a:p>
          <a:p>
            <a:r>
              <a:t>Transition: "Let me switch to the live dashboard and walk you through it."</a:t>
            </a:r>
          </a:p>
          <a:p>
            <a:endParaRPr/>
          </a:p>
          <a:p>
            <a:r>
              <a:t>*** SWITCH TO LIVE DASHBOARD NOW — http://localhost:8501 ***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DASHBOARD — Executive Summary page</a:t>
            </a:r>
          </a:p>
          <a:p>
            <a:endParaRPr/>
          </a:p>
          <a:p>
            <a:r>
              <a:t>For the CCO:</a:t>
            </a:r>
          </a:p>
          <a:p>
            <a:r>
              <a:t>- Point to Total ARR and Active Accounts: "Portfolio health at a glance in under 2 seconds."</a:t>
            </a:r>
          </a:p>
          <a:p>
            <a:r>
              <a:t>- Churn Rate with Target: "CS Ops should always measure against a goal, not just report a number."</a:t>
            </a:r>
          </a:p>
          <a:p>
            <a:r>
              <a:t>- ARR Trend + NRR: "This is the story you tell the board."</a:t>
            </a:r>
          </a:p>
          <a:p>
            <a:endParaRPr/>
          </a:p>
          <a:p>
            <a:r>
              <a:t>For Support Ops Director:</a:t>
            </a:r>
          </a:p>
          <a:p>
            <a:r>
              <a:t>- At-Risk Accounts: "This number directly impacts your team — these generate the most tickets."</a:t>
            </a:r>
          </a:p>
          <a:p>
            <a:r>
              <a:t>- Health Distribution pie: "Critical and At Risk segments are where Support and CS coordinate most."</a:t>
            </a:r>
          </a:p>
          <a:p>
            <a:endParaRPr/>
          </a:p>
          <a:p>
            <a:r>
              <a:t>For TAE Director:</a:t>
            </a:r>
          </a:p>
          <a:p>
            <a:r>
              <a:t>- ARR Waterfall: "TAEs play a critical role in the expansion number."</a:t>
            </a:r>
          </a:p>
          <a:p>
            <a:r>
              <a:t>- Renewal Rate Trend: "If this dips below target, TAE engagement strategies may need adjustment."</a:t>
            </a:r>
          </a:p>
          <a:p>
            <a:endParaRPr/>
          </a:p>
          <a:p>
            <a:r>
              <a:t>TRANSITION: "Now let's get tactical. How do we forecast which renewals will close?"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DASHBOARD — Renewal Forecast page</a:t>
            </a:r>
          </a:p>
          <a:p>
            <a:endParaRPr/>
          </a:p>
          <a:p>
            <a:r>
              <a:t>Show filters: "Everything filterable by segment, region, CSM. CCO can slice for board reporting. TAEs can see their portfolio. Support can correlate with workload by region."</a:t>
            </a:r>
          </a:p>
          <a:p>
            <a:endParaRPr/>
          </a:p>
          <a:p>
            <a:r>
              <a:t>Metrics row: "This is our pipeline. [X] renewals representing $[X]M in ARR."</a:t>
            </a:r>
          </a:p>
          <a:p>
            <a:endParaRPr/>
          </a:p>
          <a:p>
            <a:r>
              <a:t>Forecast by Category: "This is how I'd run the weekly renewal review. Start with category view, then drill into At Risk."</a:t>
            </a:r>
          </a:p>
          <a:p>
            <a:endParaRPr/>
          </a:p>
          <a:p>
            <a:r>
              <a:t>Renewal Timeline: "Month-by-month shows workload distribution. Heavy months need front-loaded TAE engagement."</a:t>
            </a:r>
          </a:p>
          <a:p>
            <a:endParaRPr/>
          </a:p>
          <a:p>
            <a:r>
              <a:t>Data table + download: "Everything is exportable. CSMs and TAEs pull their own lists."</a:t>
            </a:r>
          </a:p>
          <a:p>
            <a:endParaRPr/>
          </a:p>
          <a:p>
            <a:r>
              <a:t>TRANSITION: "But what about accounts that don't renew? Let's look at what we learn from churn."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DASHBOARD — Churn Analysis page</a:t>
            </a:r>
          </a:p>
          <a:p>
            <a:endParaRPr/>
          </a:p>
          <a:p>
            <a:r>
              <a:t>For CCO:</a:t>
            </a:r>
          </a:p>
          <a:p>
            <a:r>
              <a:t>- Churn Reasons: "Gold for executive strategy. Budget Constraints = value-proof problem. Competitor Switch = product-market problem. CS Ops surfaces this distinction."</a:t>
            </a:r>
          </a:p>
          <a:p>
            <a:r>
              <a:t>- Logo Churn Rate: "Losing 10 SMB accounts at $10K is different from 1 Enterprise at $100K."</a:t>
            </a:r>
          </a:p>
          <a:p>
            <a:endParaRPr/>
          </a:p>
          <a:p>
            <a:r>
              <a:t>For Support Ops:</a:t>
            </a:r>
          </a:p>
          <a:p>
            <a:r>
              <a:t>- Risk Signals scatter: "Low utilization + high churn probability = escalations happening now or about to."</a:t>
            </a:r>
          </a:p>
          <a:p>
            <a:r>
              <a:t>- High-Risk table: "If your team sees escalations from these names, that's not a coincidence — it's a pattern."</a:t>
            </a:r>
          </a:p>
          <a:p>
            <a:endParaRPr/>
          </a:p>
          <a:p>
            <a:r>
              <a:t>For TAE:</a:t>
            </a:r>
          </a:p>
          <a:p>
            <a:r>
              <a:t>- Churn by Segment: "Higher Mid-Market churn tells us about TAE coverage models."</a:t>
            </a:r>
          </a:p>
          <a:p>
            <a:r>
              <a:t>- Monthly Trend: "TAEs on the ground often have the earliest signal."</a:t>
            </a:r>
          </a:p>
          <a:p>
            <a:endParaRPr/>
          </a:p>
          <a:p>
            <a:r>
              <a:t>TRANSITION: "Churn analysis is backward-looking. Let's flip to the proactive side."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DASHBOARD — Account Health page</a:t>
            </a:r>
          </a:p>
          <a:p>
            <a:endParaRPr/>
          </a:p>
          <a:p>
            <a:r>
              <a:t>Key callouts:</a:t>
            </a:r>
          </a:p>
          <a:p>
            <a:r>
              <a:t>- Healthy Accounts %: "Our North Star. Every initiative should move this number up."</a:t>
            </a:r>
          </a:p>
          <a:p>
            <a:r>
              <a:t>- Utilization vs NPS: "One of the most powerful views. Different quadrants = different playbooks."</a:t>
            </a:r>
          </a:p>
          <a:p>
            <a:endParaRPr/>
          </a:p>
          <a:p>
            <a:r>
              <a:t>For TAE Director — CSM Portfolio Health table:</a:t>
            </a:r>
          </a:p>
          <a:p>
            <a:r>
              <a:t>"Critical for TAE and CSM leadership. If one CSM has 40% at-risk, that's a training or rebalancing conversation."</a:t>
            </a:r>
          </a:p>
          <a:p>
            <a:endParaRPr/>
          </a:p>
          <a:p>
            <a:r>
              <a:t>For CCO:</a:t>
            </a:r>
          </a:p>
          <a:p>
            <a:r>
              <a:t>"Health Score Trend shows if our book is getting healthier or sicker. If flat while growing ARR, we have a ticking time bomb."</a:t>
            </a:r>
          </a:p>
          <a:p>
            <a:endParaRPr/>
          </a:p>
          <a:p>
            <a:r>
              <a:t>TRANSITION: "Now let me show you something I'm particularly proud of — the EBR workflow."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*** THIS IS YOUR STRONGEST MOMENT — SPEND TIME HERE ***</a:t>
            </a:r>
          </a:p>
          <a:p>
            <a:endParaRPr/>
          </a:p>
          <a:p>
            <a:r>
              <a:t>SWITCH TO DASHBOARD — EBR Preparation page</a:t>
            </a:r>
          </a:p>
          <a:p>
            <a:r>
              <a:t>1. Select a large Enterprise account</a:t>
            </a:r>
          </a:p>
          <a:p>
            <a:r>
              <a:t>2. Click "Generate EBR Brief"</a:t>
            </a:r>
          </a:p>
          <a:p>
            <a:r>
              <a:t>3. Let the progress animation run (builds anticipation)</a:t>
            </a:r>
          </a:p>
          <a:p>
            <a:endParaRPr/>
          </a:p>
          <a:p>
            <a:r>
              <a:t>Walk through each section:</a:t>
            </a:r>
          </a:p>
          <a:p>
            <a:endParaRPr/>
          </a:p>
          <a:p>
            <a:r>
              <a:t>Account Overview: "Everything a CSM or TAE needs before walking into the room."</a:t>
            </a:r>
          </a:p>
          <a:p>
            <a:endParaRPr/>
          </a:p>
          <a:p>
            <a:r>
              <a:t>Engagement: "[TAE Director], this gauge is what your TAEs see. Below 40% = adoption conversation, not renewal."</a:t>
            </a:r>
          </a:p>
          <a:p>
            <a:endParaRPr/>
          </a:p>
          <a:p>
            <a:r>
              <a:t>Risk Assessment: "CS Ops adds the most value here. System auto-flags risks and generates action items. The playbook is built in."</a:t>
            </a:r>
          </a:p>
          <a:p>
            <a:endParaRPr/>
          </a:p>
          <a:p>
            <a:r>
              <a:t>For Support Ops: "Notice it pulls open tickets and escalation data. Support activity is a first-class signal, not an afterthought."</a:t>
            </a:r>
          </a:p>
          <a:p>
            <a:endParaRPr/>
          </a:p>
          <a:p>
            <a:r>
              <a:t>Expansion: "This ties CS to revenue. Cross-sell, multi-year, PS upsell — all surfaced automatically."</a:t>
            </a:r>
          </a:p>
          <a:p>
            <a:endParaRPr/>
          </a:p>
          <a:p>
            <a:r>
              <a:t>Talking Points: "Actual talking points for the meeting. Opening, value delivered, strategic alignment, the ask."</a:t>
            </a:r>
          </a:p>
          <a:p>
            <a:endParaRPr/>
          </a:p>
          <a:p>
            <a:r>
              <a:t>Download: "One click to export. Share with TAE, CSM, exec sponsor — everyone walks in prepared."</a:t>
            </a:r>
          </a:p>
          <a:p>
            <a:endParaRPr/>
          </a:p>
          <a:p>
            <a:r>
              <a:t>TRANSITION: "Let me show PS &amp; Training, then we'll close with automated alerts."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DASHBOARD — PS &amp; Training page</a:t>
            </a:r>
          </a:p>
          <a:p>
            <a:endParaRPr/>
          </a:p>
          <a:p>
            <a:r>
              <a:t>For TAE Director:</a:t>
            </a:r>
          </a:p>
          <a:p>
            <a:r>
              <a:t>"PS is often owned or influenced by TAE teams. Unused PS hours = risk of feeling they didn't get value. 80%+ used = upsell opportunity."</a:t>
            </a:r>
          </a:p>
          <a:p>
            <a:endParaRPr/>
          </a:p>
          <a:p>
            <a:r>
              <a:t>Training Impact table:</a:t>
            </a:r>
          </a:p>
          <a:p>
            <a:r>
              <a:t>"This is the ROI case for training investment. Trained accounts have higher NPS, higher utilization, lower churn probability."</a:t>
            </a:r>
          </a:p>
          <a:p>
            <a:endParaRPr/>
          </a:p>
          <a:p>
            <a:r>
              <a:t>For CCO:</a:t>
            </a:r>
          </a:p>
          <a:p>
            <a:r>
              <a:t>"PS Revenue trend shows whether we're capturing services revenue effectively."</a:t>
            </a:r>
          </a:p>
          <a:p>
            <a:endParaRPr/>
          </a:p>
          <a:p>
            <a:r>
              <a:t>TRANSITION: "And finally — the piece that ties everything together."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DASHBOARD — Automated Alerts page</a:t>
            </a:r>
          </a:p>
          <a:p>
            <a:endParaRPr/>
          </a:p>
          <a:p>
            <a:r>
              <a:t>Explain the three tiers:</a:t>
            </a:r>
          </a:p>
          <a:p>
            <a:r>
              <a:t>"Critical: Renewal within 60 days AND churn probability above 20%. Executive intervention now.</a:t>
            </a:r>
          </a:p>
          <a:p>
            <a:r>
              <a:t>High: Critical health score OR 2+ escalations. Health check within 48 hours.</a:t>
            </a:r>
          </a:p>
          <a:p>
            <a:r>
              <a:t>Medium: No login for 30+ days. Re-engagement needed."</a:t>
            </a:r>
          </a:p>
          <a:p>
            <a:endParaRPr/>
          </a:p>
          <a:p>
            <a:r>
              <a:t>For Support Ops: "Alert Distribution by CSM chart. Disproportionate alerts = rebalancing signal. Connect dots between Support escalations and CS alerts."</a:t>
            </a:r>
          </a:p>
          <a:p>
            <a:endParaRPr/>
          </a:p>
          <a:p>
            <a:r>
              <a:t>For CCO — Weekly Digest: "This is what I'd send every Monday. Total alerts, ARR impacted, top actions. No one needs to log in for the headline."</a:t>
            </a:r>
          </a:p>
          <a:p>
            <a:endParaRPr/>
          </a:p>
          <a:p>
            <a:r>
              <a:t>For TAE: "Filter by their accounts. Data-driven prioritization, no guessing."</a:t>
            </a:r>
          </a:p>
          <a:p>
            <a:endParaRPr/>
          </a:p>
          <a:p>
            <a:r>
              <a:t>TRANSITION: "Let me close with how I see this fitting into the broader vision."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SCRIPT — deliver with confidence, not rushed:</a:t>
            </a:r>
          </a:p>
          <a:p>
            <a:endParaRPr/>
          </a:p>
          <a:p>
            <a:r>
              <a:t>"What I've shown you today is a prototype — but it represents how I think about CS Operations:</a:t>
            </a:r>
          </a:p>
          <a:p>
            <a:endParaRPr/>
          </a:p>
          <a:p>
            <a:r>
              <a:t>1. Data should drive action, not just reporting. Every page ends with something someone can do.</a:t>
            </a:r>
          </a:p>
          <a:p>
            <a:endParaRPr/>
          </a:p>
          <a:p>
            <a:r>
              <a:t>2. Cross-functional visibility is essential. [Support Director], your team's data is woven into every view. [TAE Director], TAE portfolio health is front and center. [CCO], the executive layer gives you the board-ready view.</a:t>
            </a:r>
          </a:p>
          <a:p>
            <a:endParaRPr/>
          </a:p>
          <a:p>
            <a:r>
              <a:t>3. Automation replaces manual toil. The alerts engine saves hours. The EBR generator cuts prep by 80%. That's CS Ops — freeing up CSMs and TAEs for customers, not spreadsheets.</a:t>
            </a:r>
          </a:p>
          <a:p>
            <a:endParaRPr/>
          </a:p>
          <a:p>
            <a:r>
              <a:t>4. Scalability. This was built with 250 accounts. The same framework works with 25,000. As Sumo Logic grows, operational infrastructure scales with it. That's the role I want to play.</a:t>
            </a:r>
          </a:p>
          <a:p>
            <a:endParaRPr/>
          </a:p>
          <a:p>
            <a:r>
              <a:t>I built this because the best way to show what I can do is to actually do it. I'm excited about bringing this operational thinking to Sumo Logic's Customer Success organization.</a:t>
            </a:r>
          </a:p>
          <a:p>
            <a:endParaRPr/>
          </a:p>
          <a:p>
            <a:r>
              <a:t>I'd love to hear your questions."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show this slide if asked "What would you do in your first 90 days?"</a:t>
            </a:r>
          </a:p>
          <a:p>
            <a:endParaRPr/>
          </a:p>
          <a:p>
            <a:r>
              <a:t>Otherwise, have it ready as a backup.</a:t>
            </a:r>
          </a:p>
          <a:p>
            <a:endParaRPr/>
          </a:p>
          <a:p>
            <a:r>
              <a:t>Key message: You move fast, start with discovery, and deliver tangible value by month 2-3.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SHOW THIS SLIDE.</a:t>
            </a:r>
          </a:p>
          <a:p>
            <a:r>
              <a:t>This is your cheat sheet for Q&amp;A. Keep it in Presenter View or memorize the key answers.</a:t>
            </a:r>
          </a:p>
          <a:p>
            <a:endParaRPr/>
          </a:p>
          <a:p>
            <a:r>
              <a:t>Additional prep:</a:t>
            </a:r>
          </a:p>
          <a:p>
            <a:r>
              <a:t>- "How long did this take?" → Be honest. Frame as: "I invested [X] because I wanted to demonstrate I can execute, not just talk."</a:t>
            </a:r>
          </a:p>
          <a:p>
            <a:r>
              <a:t>- If they ask about something you don't know about Sumo Logic's internal tools, say: "I'd love to learn more about your current stack — my approach is tool-agnostic and adapts to whatever systems are in place."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with energy and confidence. Make eye contact. Smile.</a:t>
            </a:r>
          </a:p>
          <a:p>
            <a:endParaRPr/>
          </a:p>
          <a:p>
            <a:r>
              <a:t>You built this — you know it better than anyone in that room. Good luck!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179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CS OPS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Operationalizing Customer Success</a:t>
            </a:r>
            <a:br/>
            <a:r>
              <a:t>with Data-Driven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Panel Presentation  |  Senior Customer Operations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rPr lang="es-CO" dirty="0"/>
              <a:t>James Loría Aguilar </a:t>
            </a:r>
            <a:r>
              <a:rPr dirty="0"/>
              <a:t>| Customer Success Organization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2B46"/>
                </a:solidFill>
                <a:latin typeface="Calibri"/>
              </a:defRPr>
            </a:pPr>
            <a:r>
              <a:t>Presentation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1.  Opening &amp; Context Setting  (5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2.  Executive Summary — Portfolio KPIs  (8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3.  Renewal Forecast &amp; Pipeline  (7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4.  Churn Analysis &amp; Risk Intelligence  (7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5.  Account Health Overview  (5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6.  EBR Preparation Workflow  (7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7.  PS &amp; Training Analytics  (5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8.  Automated Alerts Engine  (6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9.  Closing: Vision &amp; Impact  (5 min)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10. Q&amp;A  (5-10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YOUR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2B46"/>
                </a:solidFill>
                <a:latin typeface="Calibri"/>
              </a:defRPr>
            </a:pPr>
            <a:r>
              <a:t>Tailored to Each Stakeholder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91840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91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B46"/>
                </a:solidFill>
                <a:latin typeface="Calibri"/>
              </a:defRPr>
            </a:pPr>
            <a:r>
              <a:t>CCO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ARR retention &amp; growth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NRR / GRR metrics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Board-ready reporting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Scalable CS operations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Strategic churn reduction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011680"/>
            <a:ext cx="3291840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011680"/>
            <a:ext cx="329184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  <a:latin typeface="Calibri"/>
              </a:defRPr>
            </a:pPr>
            <a:r>
              <a:t>Dir. Global Support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Escalation visibility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Ticket trend insights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Support-to-CS handoff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Operational efficiency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Reducing firefighting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291840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3291840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B46"/>
                </a:solidFill>
                <a:latin typeface="Calibri"/>
              </a:defRPr>
            </a:pPr>
            <a:r>
              <a:t>Sr. Dir. TAE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Account health signals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TAE portfolio insights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Renewal readiness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PS utilization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Proactive 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2B46"/>
                </a:solidFill>
                <a:latin typeface="Calibri"/>
              </a:defRPr>
            </a:pPr>
            <a:r>
              <a:t>Why I Built This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Instead of talking about what I would do, I built something to show you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800">
              <a:solidFill>
                <a:srgbClr val="0F172A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Every page solves a real CS Ops operational problem: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    How do we forecast renewals with confidence?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    How do we catch churn signals early enough to act?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    How do we prepare CSMs and TAEs for executive conversations?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    How do we replace manual weekly reviews with automated intelligence?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800">
              <a:solidFill>
                <a:srgbClr val="0F172A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Built specifically with Sumo Logic's SaaS business model in mind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250 accounts  |  27 months of trending data  |  7 operational 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Real-time overview of Customer Success Operations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CCO: </a:t>
            </a:r>
            <a:r>
              <a:rPr sz="1600">
                <a:solidFill>
                  <a:srgbClr val="CBD5E1"/>
                </a:solidFill>
                <a:latin typeface="Calibri"/>
              </a:rPr>
              <a:t>Total ARR, Churn Rate, NRR Trend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Support Ops: </a:t>
            </a:r>
            <a:r>
              <a:rPr sz="1600">
                <a:solidFill>
                  <a:srgbClr val="CBD5E1"/>
                </a:solidFill>
                <a:latin typeface="Calibri"/>
              </a:rPr>
              <a:t>At-Risk count, Health Distribution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TAE: </a:t>
            </a:r>
            <a:r>
              <a:rPr sz="1600">
                <a:solidFill>
                  <a:srgbClr val="CBD5E1"/>
                </a:solidFill>
                <a:latin typeface="Calibri"/>
              </a:rPr>
              <a:t>ARR Waterfall, Renewal Rate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840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"This is what a CS Ops leader sees first thing Monday morning — a single view of everything that matters."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Renewal Forecast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Forecast renewal outcomes by quarter, segment, and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Filterable by Segment, Region, CSM — self-service for all teams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Commit vs At Risk gap = the CS Ops priority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Monthly timeline prevents last-minute fire drills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Exportable data — no more waiting for weekly Ops emails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76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Churn Analysis &amp; Risk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Why are we losing customers, and can we predict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CCO: </a:t>
            </a:r>
            <a:r>
              <a:rPr sz="1600">
                <a:solidFill>
                  <a:srgbClr val="CBD5E1"/>
                </a:solidFill>
                <a:latin typeface="Calibri"/>
              </a:rPr>
              <a:t>Churn reasons drive different strategies — budget vs competitor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Support: </a:t>
            </a:r>
            <a:r>
              <a:rPr sz="1600">
                <a:solidFill>
                  <a:srgbClr val="CBD5E1"/>
                </a:solidFill>
                <a:latin typeface="Calibri"/>
              </a:rPr>
              <a:t>Low utilization + high churn = escalation pipeline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TAE: </a:t>
            </a:r>
            <a:r>
              <a:rPr sz="1600">
                <a:solidFill>
                  <a:srgbClr val="CBD5E1"/>
                </a:solidFill>
                <a:latin typeface="Calibri"/>
              </a:rPr>
              <a:t>Segment churn informs coverage model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840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High-Risk Accounts table = early warning system for accounts with &gt;30% churn probability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Account Health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Health scores are only useful if they drive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Healthy Accounts % = North Star metric for CS Ops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Utilization vs NPS scatter reveals different playbooks: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    High utilization + Low NPS = Support problem (experience)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    Low utilization + High NPS = Adoption problem (enablement)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CSM Portfolio Health table — identify rebalancing opportunities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1FF"/>
                </a:solidFill>
                <a:latin typeface="Calibri"/>
              </a:defRPr>
            </a:pPr>
            <a:r>
              <a:t>LIVE DEMO — THE WOW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EBR Preparation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Turns a 2-hour prep process into 2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Auto-generated EBR brief with 5 sections: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   1. Account Overview — ARR, segment, health, NPS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   2. Engagement &amp; Adoption — utilization gauge, support data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   3. Risk Assessment — auto-flagged risks + action items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   4. Expansion Opportunities — cross-sell, PS, multi-year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   5. Executive Talking Points — opening to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474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B703"/>
                </a:solidFill>
                <a:latin typeface="Calibri"/>
              </a:defRPr>
            </a:pPr>
            <a:r>
              <a:t>DEMO STEPS:</a:t>
            </a:r>
            <a:br/>
            <a:r>
              <a:t>1. Select a large Enterprise account</a:t>
            </a:r>
            <a:br/>
            <a:r>
              <a:t>2. Click "Generate EBR Brief"</a:t>
            </a:r>
            <a:br/>
            <a:r>
              <a:t>3. Let animation run</a:t>
            </a:r>
            <a:br/>
            <a:r>
              <a:t>4. Walk through each section</a:t>
            </a:r>
            <a:br/>
            <a:r>
              <a:t>5. Show download button</a:t>
            </a:r>
            <a:br/>
            <a:br/>
            <a:r>
              <a:t>PAUSE for reactions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86025"/>
            <a:ext cx="12191695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3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PS &amp; Training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3750"/>
            <a:ext cx="100584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 dirty="0">
                <a:solidFill>
                  <a:srgbClr val="CBD5E1"/>
                </a:solidFill>
                <a:latin typeface="Calibri"/>
              </a:rPr>
              <a:t>TAE: </a:t>
            </a:r>
            <a:r>
              <a:rPr sz="1600" dirty="0">
                <a:solidFill>
                  <a:srgbClr val="CBD5E1"/>
                </a:solidFill>
                <a:latin typeface="Calibri"/>
              </a:rPr>
              <a:t>PS utilization by account — unused hours = risk, depleted = upsell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 dirty="0">
                <a:solidFill>
                  <a:srgbClr val="CBD5E1"/>
                </a:solidFill>
                <a:latin typeface="Calibri"/>
              </a:rPr>
              <a:t>CCO: </a:t>
            </a:r>
            <a:r>
              <a:rPr sz="1600" dirty="0">
                <a:solidFill>
                  <a:srgbClr val="CBD5E1"/>
                </a:solidFill>
                <a:latin typeface="Calibri"/>
              </a:rPr>
              <a:t>PS Revenue trend feeds into gross margin and time-to-value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 dirty="0">
                <a:solidFill>
                  <a:srgbClr val="CBD5E1"/>
                </a:solidFill>
                <a:latin typeface="Calibri"/>
              </a:rPr>
              <a:t>Training Impact on Health: </a:t>
            </a:r>
            <a:r>
              <a:rPr sz="1600" dirty="0">
                <a:solidFill>
                  <a:srgbClr val="CBD5E1"/>
                </a:solidFill>
                <a:latin typeface="Calibri"/>
              </a:rPr>
              <a:t>trained accounts show higher NPS,</a:t>
            </a:r>
            <a:r>
              <a:rPr lang="es-CO" sz="160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dirty="0">
                <a:solidFill>
                  <a:srgbClr val="CBD5E1"/>
                </a:solidFill>
                <a:latin typeface="Calibri"/>
              </a:rPr>
              <a:t>higher utilization, and lower churn probability</a:t>
            </a:r>
            <a:r>
              <a:rPr lang="es-CO" sz="1600" dirty="0">
                <a:solidFill>
                  <a:srgbClr val="CBD5E1"/>
                </a:solidFill>
                <a:latin typeface="Calibri"/>
              </a:rPr>
              <a:t>. </a:t>
            </a:r>
            <a:r>
              <a:rPr sz="1600" dirty="0">
                <a:solidFill>
                  <a:srgbClr val="CBD5E1"/>
                </a:solidFill>
                <a:latin typeface="Calibri"/>
              </a:rPr>
              <a:t>This is the data-driven case for training investment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28950"/>
            <a:ext cx="12191695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76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Automated Alerts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From reporting to intelligence — replacing manual weekly reviews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3200400" cy="1097280"/>
          </a:xfrm>
          <a:prstGeom prst="rect">
            <a:avLst/>
          </a:prstGeom>
          <a:solidFill>
            <a:srgbClr val="3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76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Renewal &lt;60 days + churn &gt;20%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474720"/>
            <a:ext cx="3200400" cy="1097280"/>
          </a:xfrm>
          <a:prstGeom prst="rect">
            <a:avLst/>
          </a:prstGeom>
          <a:solidFill>
            <a:srgbClr val="28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3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Critical health OR 2+ escalations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474720"/>
            <a:ext cx="3200400" cy="1097280"/>
          </a:xfrm>
          <a:prstGeom prst="rect">
            <a:avLst/>
          </a:prstGeom>
          <a:solidFill>
            <a:srgbClr val="0A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No login for 30+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Support Ops: </a:t>
            </a:r>
            <a:r>
              <a:rPr sz="1600">
                <a:solidFill>
                  <a:srgbClr val="CBD5E1"/>
                </a:solidFill>
                <a:latin typeface="Calibri"/>
              </a:rPr>
              <a:t>Alert distribution by CSM reveals portfolio imbalances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CCO: </a:t>
            </a:r>
            <a:r>
              <a:rPr sz="1600">
                <a:solidFill>
                  <a:srgbClr val="CBD5E1"/>
                </a:solidFill>
                <a:latin typeface="Calibri"/>
              </a:rPr>
              <a:t>Weekly Digest = Monday morning leadership email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b="1">
                <a:solidFill>
                  <a:srgbClr val="CBD5E1"/>
                </a:solidFill>
                <a:latin typeface="Calibri"/>
              </a:rPr>
              <a:t>TAE: </a:t>
            </a:r>
            <a:r>
              <a:rPr sz="1600">
                <a:solidFill>
                  <a:srgbClr val="CBD5E1"/>
                </a:solidFill>
                <a:latin typeface="Calibri"/>
              </a:rPr>
              <a:t>Filter by accounts for data-driven weekly prioritization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Vision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265176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2B46"/>
                </a:solidFill>
                <a:latin typeface="Calibri"/>
              </a:defRPr>
            </a:pPr>
            <a:r>
              <a:t>Data Drives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Every page ends with something</a:t>
            </a:r>
            <a:br/>
            <a:r>
              <a:t>someone can DO — export, generate,</a:t>
            </a:r>
            <a:br/>
            <a:r>
              <a:t>act on an alert.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103120"/>
            <a:ext cx="265176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2103120"/>
            <a:ext cx="265176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D6A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2B46"/>
                </a:solidFill>
                <a:latin typeface="Calibri"/>
              </a:defRPr>
            </a:pPr>
            <a:r>
              <a:t>Cross-Functional</a:t>
            </a:r>
            <a:br/>
            <a:r>
              <a:t>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Support, TAE, and executive data</a:t>
            </a:r>
            <a:br/>
            <a:r>
              <a:t>woven into every view.</a:t>
            </a:r>
            <a:br/>
            <a:r>
              <a:t>No silos.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265176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2651760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61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2B46"/>
                </a:solidFill>
                <a:latin typeface="Calibri"/>
              </a:defRPr>
            </a:pPr>
            <a:r>
              <a:t>Automation Replaces</a:t>
            </a:r>
            <a:br/>
            <a:r>
              <a:t>Manual Toil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40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Alerts save hours of weekly review.</a:t>
            </a:r>
            <a:br/>
            <a:r>
              <a:t>EBR generator cuts prep by 80%.</a:t>
            </a:r>
            <a:br/>
            <a:r>
              <a:t>CSMs spend time with customers.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103120"/>
            <a:ext cx="265176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2103120"/>
            <a:ext cx="2651760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70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2B46"/>
                </a:solidFill>
                <a:latin typeface="Calibri"/>
              </a:defRPr>
            </a:pPr>
            <a:r>
              <a:t>Built to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840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250 accounts today.</a:t>
            </a:r>
            <a:br/>
            <a:r>
              <a:t>Same framework works with</a:t>
            </a:r>
            <a:br/>
            <a:r>
              <a:t>2,500 or 25,000.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IF YOU ASK...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2B46"/>
                </a:solidFill>
                <a:latin typeface="Calibri"/>
              </a:defRPr>
            </a:pPr>
            <a:r>
              <a:t>My First 90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Weeks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B46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Audit current data sources,</a:t>
            </a:r>
            <a:br/>
            <a:r>
              <a:t>reporting cadence, and tools</a:t>
            </a:r>
            <a:br/>
            <a:r>
              <a:t>(Gainsight, Salesforce, etc.)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011680"/>
            <a:ext cx="2560320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5603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D6A0"/>
                </a:solidFill>
                <a:latin typeface="Calibri"/>
              </a:defRPr>
            </a:pPr>
            <a:r>
              <a:t>Weeks 3-4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B46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Find the #1 manual process</a:t>
            </a:r>
            <a:br/>
            <a:r>
              <a:t>to automate. Map stakeholder</a:t>
            </a:r>
            <a:br/>
            <a:r>
              <a:t>needs across CS, Support, TAE.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560320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560320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1FF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B46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Deliver the first operational</a:t>
            </a:r>
            <a:br/>
            <a:r>
              <a:t>dashboard with real Sumo Logic</a:t>
            </a:r>
            <a:br/>
            <a:r>
              <a:t>data. Quick wins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011680"/>
            <a:ext cx="2560320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2011680"/>
            <a:ext cx="2560320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03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B46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Deploy automated alert system.</a:t>
            </a:r>
            <a:br/>
            <a:r>
              <a:t>Measure time saved.</a:t>
            </a:r>
            <a:br/>
            <a:r>
              <a:t>Iterate based on feedback.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76F"/>
                </a:solidFill>
                <a:latin typeface="Calibri"/>
              </a:defRPr>
            </a:pPr>
            <a:r>
              <a:t>Q&amp;A PREPARATION — FOR YOUR EYES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Anticipated 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Calibri"/>
              </a:rPr>
              <a:t>CCO: </a:t>
            </a:r>
            <a:r>
              <a:rPr sz="1400">
                <a:solidFill>
                  <a:srgbClr val="CBD5E1"/>
                </a:solidFill>
                <a:latin typeface="Calibri"/>
              </a:rPr>
              <a:t>"How would you prioritize features?" → Alerts first (fastest ROI), then Renewal Forecast, then EBR Prep.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Calibri"/>
              </a:rPr>
              <a:t>CCO: </a:t>
            </a:r>
            <a:r>
              <a:rPr sz="1400">
                <a:solidFill>
                  <a:srgbClr val="CBD5E1"/>
                </a:solidFill>
                <a:latin typeface="Calibri"/>
              </a:rPr>
              <a:t>"How does this connect to existing tools?" → Proof of concept. Production pulls from Gainsight, Salesforce, Zendesk, product telemetry.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Calibri"/>
              </a:rPr>
              <a:t>CCO: </a:t>
            </a:r>
            <a:r>
              <a:rPr sz="1400">
                <a:solidFill>
                  <a:srgbClr val="CBD5E1"/>
                </a:solidFill>
                <a:latin typeface="Calibri"/>
              </a:rPr>
              <a:t>"What's missing?" → Product usage telemetry, predictive ML for churn, Slack/email alert delivery.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400">
              <a:solidFill>
                <a:srgbClr val="CBD5E1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Calibri"/>
              </a:rPr>
              <a:t>Support: </a:t>
            </a:r>
            <a:r>
              <a:rPr sz="1400">
                <a:solidFill>
                  <a:srgbClr val="CBD5E1"/>
                </a:solidFill>
                <a:latin typeface="Calibri"/>
              </a:rPr>
              <a:t>"How to integrate support data deeper?" → Ticket severity, resolution time, CSAT per ticket, first-response time.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Calibri"/>
              </a:rPr>
              <a:t>Support: </a:t>
            </a:r>
            <a:r>
              <a:rPr sz="1400">
                <a:solidFill>
                  <a:srgbClr val="CBD5E1"/>
                </a:solidFill>
                <a:latin typeface="Calibri"/>
              </a:rPr>
              <a:t>"CS Ops + Support Ops collaboration?" → Shared visibility, joint playbooks for at-risk accounts.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400">
              <a:solidFill>
                <a:srgbClr val="CBD5E1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Calibri"/>
              </a:rPr>
              <a:t>TAE: </a:t>
            </a:r>
            <a:r>
              <a:rPr sz="1400">
                <a:solidFill>
                  <a:srgbClr val="CBD5E1"/>
                </a:solidFill>
                <a:latin typeface="Calibri"/>
              </a:rPr>
              <a:t>"How would TAEs use this daily?" → Renewal Forecast filtered to their accounts + EBR Prep in 2 min vs 2 hours.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Calibri"/>
              </a:rPr>
              <a:t>TAE: </a:t>
            </a:r>
            <a:r>
              <a:rPr sz="1400">
                <a:solidFill>
                  <a:srgbClr val="CBD5E1"/>
                </a:solidFill>
                <a:latin typeface="Calibri"/>
              </a:rPr>
              <a:t>"How to measure TAE impact?" → Expansion ARR for TAE-engaged vs non-engaged accounts, PS utilization, renewal rates.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sz="1400">
              <a:solidFill>
                <a:srgbClr val="CBD5E1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Calibri"/>
              </a:rPr>
              <a:t>General: </a:t>
            </a:r>
            <a:r>
              <a:rPr sz="1400">
                <a:solidFill>
                  <a:srgbClr val="CBD5E1"/>
                </a:solidFill>
                <a:latin typeface="Calibri"/>
              </a:rPr>
              <a:t>"Tech stack?" → Python, Streamlit, Plotly, Pandas, Docker. In production, use whatever the org supports.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1792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I built this because the best way to show</a:t>
            </a:r>
            <a:br/>
            <a:r>
              <a:t>what I can do is to actually do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2908</Words>
  <Application>Microsoft Office PowerPoint</Application>
  <PresentationFormat>Panorámica</PresentationFormat>
  <Paragraphs>305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Mariana Hernandez Quesada</cp:lastModifiedBy>
  <cp:revision>3</cp:revision>
  <dcterms:created xsi:type="dcterms:W3CDTF">2013-01-27T09:14:16Z</dcterms:created>
  <dcterms:modified xsi:type="dcterms:W3CDTF">2026-03-11T19:40:06Z</dcterms:modified>
  <cp:category/>
</cp:coreProperties>
</file>